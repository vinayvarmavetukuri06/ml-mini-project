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7315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3B82F6"/>
                </a:solidFill>
              </a:defRPr>
            </a:pPr>
            <a:r>
              <a:t>UE24CS352A — MACHINE LEARNING MINI-PROJECT</a:t>
            </a:r>
          </a:p>
          <a:p>
            <a:pPr>
              <a:spcBef>
                <a:spcPts val="800"/>
              </a:spcBef>
              <a:defRPr sz="3200" b="1">
                <a:solidFill>
                  <a:srgbClr val="F8FAFC"/>
                </a:solidFill>
              </a:defRPr>
            </a:pPr>
            <a:r>
              <a:t>Movie Review Sentiment Analysis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</a:defRPr>
            </a:pPr>
            <a:r>
              <a:t>Comparative Benchmark of Multinomial Naive Bayes, Logistic Regression &amp; Linear SVM</a:t>
            </a:r>
          </a:p>
          <a:p>
            <a:pPr>
              <a:spcBef>
                <a:spcPts val="2400"/>
              </a:spcBef>
              <a:defRPr sz="1100">
                <a:solidFill>
                  <a:srgbClr val="CBD5E1"/>
                </a:solidFill>
              </a:defRPr>
            </a:pPr>
            <a:r>
              <a:t>• Student Presentation &amp; Technical Viva Session</a:t>
            </a:r>
            <a:br/>
            <a:r>
              <a:t>• Department of Computer Science &amp;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UE24CS352A MACHINE LEARNING MINI-PROJECT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Problem Statement &amp; Computational Challenges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6576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3B82F6"/>
                </a:solidFill>
              </a:defRPr>
            </a:pPr>
            <a:r>
              <a:t>🎯 Objective</a:t>
            </a:r>
          </a:p>
          <a:p>
            <a:pPr>
              <a:spcBef>
                <a:spcPts val="800"/>
              </a:spcBef>
              <a:defRPr sz="1100">
                <a:solidFill>
                  <a:srgbClr val="F8FAFC"/>
                </a:solidFill>
              </a:defRPr>
            </a:pPr>
            <a:r>
              <a:t>Build an end-to-end supervised machine learning pipeline to automatically classify viewer movie reviews into fine-grained sentiment categories.</a:t>
            </a:r>
          </a:p>
          <a:p>
            <a:pPr>
              <a:spcBef>
                <a:spcPts val="800"/>
              </a:spcBef>
              <a:defRPr sz="1050">
                <a:solidFill>
                  <a:srgbClr val="94A3B8"/>
                </a:solidFill>
              </a:defRPr>
            </a:pPr>
            <a:r>
              <a:t>• Benchmark generative vs. discriminative classifiers.</a:t>
            </a:r>
            <a:br/>
            <a:r>
              <a:t>• Validate generalization with 5-fold cross-validation.</a:t>
            </a:r>
            <a:br/>
            <a:r>
              <a:t>• Deploy an interactive real-time inference interface.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36576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500">
                <a:solidFill>
                  <a:srgbClr val="FBBF24"/>
                </a:solidFill>
              </a:defRPr>
            </a:pPr>
            <a:r>
              <a:t>⚡ Key NLP Challenges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High Sparsity: Text vocabularies span tens of thousands of tokens, yielding high-dimensional sparse representations.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Polarity Inversion: Negations ('not great', 'hardly amusing') completely flip sentiment.</a:t>
            </a:r>
          </a:p>
          <a:p>
            <a:pPr>
              <a:spcBef>
                <a:spcPts val="600"/>
              </a:spcBef>
              <a:defRPr sz="1050">
                <a:solidFill>
                  <a:srgbClr val="F8FAFC"/>
                </a:solidFill>
              </a:defRPr>
            </a:pPr>
            <a:r>
              <a:t>• Subtle Sarcasm: Nuanced colloquial critiques require discriminative n-gram boundary awareness.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UE24CS352A MACHINE LEARNING MINI-PROJECT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Dataset &amp; Feature Engineering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768096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B82F6"/>
                </a:solidFill>
              </a:defRPr>
            </a:pPr>
            <a:r>
              <a:t>1. Data Ingestion &amp; Cleansing: </a:t>
            </a:r>
            <a:r>
              <a:rPr b="0" sz="1000">
                <a:solidFill>
                  <a:srgbClr val="F8FAFC"/>
                </a:solidFill>
              </a:rPr>
              <a:t>HTML strip, lowercase normalization, contraction expansion (e.g. didn't -&gt; did not), non-word noise removal.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286000"/>
            <a:ext cx="768096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B82F6"/>
                </a:solidFill>
              </a:defRPr>
            </a:pPr>
            <a:r>
              <a:t>2. Strict Partitioning Order: </a:t>
            </a:r>
            <a:r>
              <a:rPr b="0" sz="1000">
                <a:solidFill>
                  <a:srgbClr val="F8FAFC"/>
                </a:solidFill>
              </a:rPr>
              <a:t>Stratified 80-20 train-test split executed BEFORE vectorizer fitting to strictly prevent data leakage.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108960"/>
            <a:ext cx="768096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B82F6"/>
                </a:solidFill>
              </a:defRPr>
            </a:pPr>
            <a:r>
              <a:t>3. TF-IDF Feature Extraction: </a:t>
            </a:r>
            <a:r>
              <a:rPr b="0" sz="1000">
                <a:solidFill>
                  <a:srgbClr val="F8FAFC"/>
                </a:solidFill>
              </a:rPr>
              <a:t>Unigrams + Bigrams (1,2) with sublinear TF scaling (1 + log(TF)) capturing both individual and compound tokens.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7680960" cy="6858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100">
                <a:solidFill>
                  <a:srgbClr val="3B82F6"/>
                </a:solidFill>
              </a:defRPr>
            </a:pPr>
            <a:r>
              <a:t>4. Dimensionality Management: </a:t>
            </a:r>
            <a:r>
              <a:rPr b="0" sz="1000">
                <a:solidFill>
                  <a:srgbClr val="F8FAFC"/>
                </a:solidFill>
              </a:rPr>
              <a:t>Top 15,000 informative n-grams preserved; eliminates uninformative hapax legomena via min_df threshold.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UE24CS352A MACHINE LEARNING MINI-PROJECT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Model Architectures: Generative vs Discriminative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237744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B82F6"/>
                </a:solidFill>
              </a:defRPr>
            </a:pPr>
            <a:r>
              <a:t>Multinomial Naive Bayes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Generative Probabilistic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Models class prior P(y) and likelihood P(x|y).</a:t>
            </a:r>
            <a:br/>
            <a:r>
              <a:t>• Fast closed-form training with Laplace smoothing.</a:t>
            </a:r>
            <a:br/>
            <a:r>
              <a:t>• Robust baseline for sparse text classification.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1554480"/>
            <a:ext cx="237744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Logistic Regression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Discriminative Linear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Optimizes cross-entropy loss directly on P(y|x).</a:t>
            </a:r>
            <a:br/>
            <a:r>
              <a:t>• L2 regularization controls VC dimension &amp; overfitting.</a:t>
            </a:r>
            <a:br/>
            <a:r>
              <a:t>• Provides well-calibrated posterior probabilities.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35040" y="1554480"/>
            <a:ext cx="237744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FBBF24"/>
                </a:solidFill>
              </a:defRPr>
            </a:pPr>
            <a:r>
              <a:t>Linear SVM (Champion 🏆)</a:t>
            </a:r>
          </a:p>
          <a:p>
            <a:pPr>
              <a:spcBef>
                <a:spcPts val="200"/>
              </a:spcBef>
              <a:defRPr sz="950">
                <a:solidFill>
                  <a:srgbClr val="94A3B8"/>
                </a:solidFill>
              </a:defRPr>
            </a:pPr>
            <a:r>
              <a:t>Max-Margin Hyperplane</a:t>
            </a:r>
          </a:p>
          <a:p>
            <a:pPr>
              <a:spcBef>
                <a:spcPts val="800"/>
              </a:spcBef>
              <a:defRPr sz="950">
                <a:solidFill>
                  <a:srgbClr val="F8FAFC"/>
                </a:solidFill>
              </a:defRPr>
            </a:pPr>
            <a:r>
              <a:t>• Maximizes margin between sentiment boundaries.</a:t>
            </a:r>
            <a:br/>
            <a:r>
              <a:t>• Hinge loss with L2 penalty handles high dimensions.</a:t>
            </a:r>
            <a:br/>
            <a:r>
              <a:t>• Selected Champion Model based on Macro-F1 (50.27%).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UE24CS352A MACHINE LEARNING MINI-PROJECT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Empirical Evaluation &amp;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76809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36192"/>
                <a:gridCol w="1536192"/>
                <a:gridCol w="1536192"/>
                <a:gridCol w="1536192"/>
                <a:gridCol w="1536192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Model Name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5-Fold CV Acc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Test Accuracy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Macro F1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8FAFC"/>
                          </a:solidFill>
                        </a:defRPr>
                      </a:pPr>
                      <a:r>
                        <a:t>Inference Latency</a:t>
                      </a:r>
                    </a:p>
                  </a:txBody>
                  <a:tcPr>
                    <a:solidFill>
                      <a:srgbClr val="3B82F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Multinomial Naive Bayes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59.71%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60.06%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36.49%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0.000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63.55%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63.96%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48.24%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0.000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BBF24"/>
                          </a:solidFill>
                        </a:defRPr>
                      </a:pPr>
                      <a:r>
                        <a:t>Linear SVM 🏆 (Champion)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63.09%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63.85%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50.27%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8FAFC"/>
                          </a:solidFill>
                        </a:defRPr>
                      </a:pPr>
                      <a:r>
                        <a:t>0.008 ms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3383280"/>
            <a:ext cx="7680960" cy="137160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050">
                <a:solidFill>
                  <a:srgbClr val="10B981"/>
                </a:solidFill>
              </a:defRPr>
            </a:pPr>
            <a:r>
              <a:t>📊 Key Empirical Insights: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Champion Model Selection: Linear SVM is selected as the production champion with 50.27% Macro-F1 (vs. 48.24% for Logistic Regression and 36.49% for Naive Bayes).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Metric Prioritization (Macro-F1 vs Test Accuracy): Logistic Regression achieves peak test accuracy (63.96% vs 63.85%), but Macro-F1 is prioritized because it measures performance across all sentiment classes rather than test accuracy alone, which is biased by dominant Neutral reviews (51%+).</a:t>
            </a:r>
          </a:p>
          <a:p>
            <a:pPr>
              <a:spcBef>
                <a:spcPts val="200"/>
              </a:spcBef>
              <a:defRPr sz="850">
                <a:solidFill>
                  <a:srgbClr val="F8FAFC"/>
                </a:solidFill>
              </a:defRPr>
            </a:pPr>
            <a:r>
              <a:t>• Production Efficiency: All three models execute sub-millisecond per-sample inference latency with calibrated 5-class posterior probabilities.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68096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3B82F6"/>
                </a:solidFill>
              </a:defRPr>
            </a:pPr>
            <a:r>
              <a:t>UE24CS352A MACHINE LEARNING MINI-PROJECT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Interactive Terminal System &amp; Conclusions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6576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3B82F6"/>
                </a:solidFill>
              </a:defRPr>
            </a:pPr>
            <a:r>
              <a:t>🖥️ Live Terminal Interface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Interactive Terminal Menu (main.py) with 4 options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Direct prediction workflow automatically loads Linear SVM champion (Macro-F1: 50.27%)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5-Class sentiment predictions across MNB, LogReg &amp; Linear SVM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Calibrated probabilities &amp; TF-IDF Keyword Explainability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Standalone execution: clean terminal app, no browser required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554480"/>
            <a:ext cx="3657600" cy="310896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300">
                <a:solidFill>
                  <a:srgbClr val="10B981"/>
                </a:solidFill>
              </a:defRPr>
            </a:pPr>
            <a:r>
              <a:t>🏁 Summary &amp; Next Steps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Linear SVM is the selected champion (Macro-F1: 50.27%), providing optimal balance across minority &amp; majority sentiment classes.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Logistic Regression achieves peak test accuracy (63.96%), while Naive Bayes offers an ultra-fast baseline (60.06%).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Champion selection prioritizes Macro-F1 over raw accuracy to prevent majority-class bias from dominant Neutral reviews.</a:t>
            </a:r>
          </a:p>
          <a:p>
            <a:pPr>
              <a:spcBef>
                <a:spcPts val="500"/>
              </a:spcBef>
              <a:defRPr sz="950">
                <a:solidFill>
                  <a:srgbClr val="F8FAFC"/>
                </a:solidFill>
              </a:defRPr>
            </a:pPr>
            <a:r>
              <a:t>• Future Work: Fine-tuning transformer models (DistilBERT / RoBERTa) and contextual sentence embeddings.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